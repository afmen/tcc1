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Inter SemiBold"/>
      <p:regular r:id="rId13"/>
      <p:bold r:id="rId14"/>
      <p:italic r:id="rId15"/>
      <p:boldItalic r:id="rId16"/>
    </p:embeddedFont>
    <p:embeddedFont>
      <p:font typeface="Plus Jakarta Sans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JetBrains Mono"/>
      <p:regular r:id="rId25"/>
      <p:bold r:id="rId26"/>
      <p:italic r:id="rId27"/>
      <p:boldItalic r:id="rId28"/>
    </p:embeddedFont>
    <p:embeddedFont>
      <p:font typeface="Space Grotesk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etBrainsMono-bold.fntdata"/><Relationship Id="rId25" Type="http://schemas.openxmlformats.org/officeDocument/2006/relationships/font" Target="fonts/JetBrainsMono-regular.fntdata"/><Relationship Id="rId28" Type="http://schemas.openxmlformats.org/officeDocument/2006/relationships/font" Target="fonts/JetBrainsMono-boldItalic.fntdata"/><Relationship Id="rId27" Type="http://schemas.openxmlformats.org/officeDocument/2006/relationships/font" Target="fonts/JetBrains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aceGrotes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SpaceGrotesk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SemiBold-regular.fntdata"/><Relationship Id="rId12" Type="http://schemas.openxmlformats.org/officeDocument/2006/relationships/slide" Target="slides/slide7.xml"/><Relationship Id="rId15" Type="http://schemas.openxmlformats.org/officeDocument/2006/relationships/font" Target="fonts/InterSemiBold-italic.fntdata"/><Relationship Id="rId14" Type="http://schemas.openxmlformats.org/officeDocument/2006/relationships/font" Target="fonts/InterSemiBold-bold.fntdata"/><Relationship Id="rId17" Type="http://schemas.openxmlformats.org/officeDocument/2006/relationships/font" Target="fonts/PlusJakartaSans-regular.fntdata"/><Relationship Id="rId16" Type="http://schemas.openxmlformats.org/officeDocument/2006/relationships/font" Target="fonts/InterSemiBold-boldItalic.fntdata"/><Relationship Id="rId19" Type="http://schemas.openxmlformats.org/officeDocument/2006/relationships/font" Target="fonts/PlusJakartaSans-italic.fntdata"/><Relationship Id="rId18" Type="http://schemas.openxmlformats.org/officeDocument/2006/relationships/font" Target="fonts/PlusJakarta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d0584474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bd0584474_1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bd0584474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fbd0584474_1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868a327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f868a327e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bcadfb8e5c65852_3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hbcadfb8e5c65852_30_2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4497cf97da3be0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h4497cf97da3be0_0_6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3.jp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5657850"/>
            <a:ext cx="10972800" cy="8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5657850"/>
            <a:ext cx="10972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09600" y="750725"/>
            <a:ext cx="6447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TRABALHO DE CONCLUSÃO DE CURSO I • ENGENHARIA DE SOFTWARE</a:t>
            </a:r>
            <a:endParaRPr sz="1600"/>
          </a:p>
        </p:txBody>
      </p:sp>
      <p:sp>
        <p:nvSpPr>
          <p:cNvPr id="87" name="Google Shape;87;p13"/>
          <p:cNvSpPr txBox="1"/>
          <p:nvPr/>
        </p:nvSpPr>
        <p:spPr>
          <a:xfrm>
            <a:off x="9659700" y="766025"/>
            <a:ext cx="2417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Projeto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 </a:t>
            </a:r>
            <a:r>
              <a:rPr lang="en-US" sz="105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TCC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1863333"/>
            <a:ext cx="9901200" cy="18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Avaliação da Conformidade Técnica de </a:t>
            </a:r>
            <a:r>
              <a:rPr b="1" lang="en-US" sz="355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Portais de Companhias Aéreas </a:t>
            </a:r>
            <a:r>
              <a:rPr b="1" i="0" lang="en-US" sz="35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 a Lei Geral de Prot</a:t>
            </a:r>
            <a:r>
              <a:rPr b="1" lang="en-US" sz="355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eção de Dados (</a:t>
            </a:r>
            <a:r>
              <a:rPr b="1" i="0" lang="en-US" sz="35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LGPD</a:t>
            </a:r>
            <a:r>
              <a:rPr b="1" lang="en-US" sz="355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</a:t>
            </a:r>
            <a:endParaRPr sz="1500"/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4015166"/>
            <a:ext cx="9429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5797988"/>
            <a:ext cx="2655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DISCENTE</a:t>
            </a:r>
            <a:endParaRPr sz="1500"/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6105525"/>
            <a:ext cx="265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André Fernandez Mendes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545600" y="5797988"/>
            <a:ext cx="2309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ORIENTADO</a:t>
            </a:r>
            <a:r>
              <a:rPr lang="en-US" sz="11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 ACADÊMICO</a:t>
            </a:r>
            <a:endParaRPr sz="1500"/>
          </a:p>
        </p:txBody>
      </p:sp>
      <p:sp>
        <p:nvSpPr>
          <p:cNvPr id="93" name="Google Shape;93;p13"/>
          <p:cNvSpPr txBox="1"/>
          <p:nvPr/>
        </p:nvSpPr>
        <p:spPr>
          <a:xfrm>
            <a:off x="3545600" y="6105525"/>
            <a:ext cx="2309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Cleiton Silva Tavares</a:t>
            </a:r>
            <a:endParaRPr b="1" sz="1350">
              <a:solidFill>
                <a:srgbClr val="F1F5F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6015534" y="6105525"/>
            <a:ext cx="2417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Filipe Torio Lopes Ruas Nhimi</a:t>
            </a:r>
            <a:endParaRPr b="1" sz="1350">
              <a:solidFill>
                <a:srgbClr val="F1F5F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8849829" y="6105525"/>
            <a:ext cx="283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Leonardo Vilela Cardoso</a:t>
            </a:r>
            <a:endParaRPr b="1" sz="1350">
              <a:solidFill>
                <a:srgbClr val="F1F5F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6015534" y="5797975"/>
            <a:ext cx="2309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ORIENTADO</a:t>
            </a:r>
            <a:r>
              <a:rPr lang="en-US" sz="11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 DE  CONTEÚDO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9250" y="2151608"/>
            <a:ext cx="323850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" y="2208758"/>
            <a:ext cx="3124198" cy="31242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6629400" y="2584503"/>
            <a:ext cx="499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Engenharia de requisitos de software: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tradução de diretrizes legais da LGPD em requisitos funcionais e não funcionais de privacidade (Privacy by Design)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29400" y="3604663"/>
            <a:ext cx="499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Validação de software: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avaliação se mecanismos implementados nos sites cumprem as regras de privacidade da LGPD.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629400" y="4538770"/>
            <a:ext cx="499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Verificação/ Análise Dinâmica de Software: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 processo de análise é realizado durante o tempo de execução verificando dinamicamente o comportamento do portal.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14375" y="476250"/>
            <a:ext cx="1145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Área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71500" y="476250"/>
            <a:ext cx="47700" cy="39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571500" y="977400"/>
            <a:ext cx="934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Áreas da Engenharia de Software Abrangidas pelo Trabalho de Conclusão de Curso</a:t>
            </a:r>
            <a:endParaRPr b="1" sz="18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574668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3614519"/>
            <a:ext cx="19502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4562608"/>
            <a:ext cx="2522450" cy="25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3485698" y="689575"/>
            <a:ext cx="52206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5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Problema</a:t>
            </a:r>
            <a:endParaRPr b="1" sz="355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5715000" y="2156888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789150" y="2833500"/>
            <a:ext cx="10613700" cy="22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0">
                <a:solidFill>
                  <a:srgbClr val="E0F2FE"/>
                </a:solidFill>
                <a:latin typeface="Inter"/>
                <a:ea typeface="Inter"/>
                <a:cs typeface="Inter"/>
                <a:sym typeface="Inter"/>
              </a:rPr>
              <a:t>Os portais de companhias aéreas observam os requisitos de privacidade estabelecidos pela Lei Geral de Proteção de Dados (LGPD)?</a:t>
            </a:r>
            <a:endParaRPr sz="2950">
              <a:solidFill>
                <a:srgbClr val="E0F2F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E0F2FE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61975"/>
            <a:ext cx="10938600" cy="1479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350" y="2755375"/>
            <a:ext cx="10890900" cy="372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801000" y="1321526"/>
            <a:ext cx="488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Geral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01000" y="1653050"/>
            <a:ext cx="105762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Avaliar a conformidade técnica dos portais de companhias aéreas com operações no Brasil em relação aos requisitos de consentimento e retenção de cookies sob a LGPD.</a:t>
            </a:r>
            <a:endParaRPr sz="2100"/>
          </a:p>
        </p:txBody>
      </p:sp>
      <p:sp>
        <p:nvSpPr>
          <p:cNvPr id="131" name="Google Shape;131;p16"/>
          <p:cNvSpPr txBox="1"/>
          <p:nvPr/>
        </p:nvSpPr>
        <p:spPr>
          <a:xfrm>
            <a:off x="801000" y="2919918"/>
            <a:ext cx="488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Específicos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01000" y="3577138"/>
            <a:ext cx="10479600" cy="27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1. Converter os artigos e princípios da LGPD pertinentes a cookies e consentimento em um catálogo de requisitos técnicos e métricas mensuráveis. </a:t>
            </a:r>
            <a:endParaRPr sz="15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2. Desenvolver uma ferramenta de auditoria automatizada (crawler/headless browser) para inspeção de requisições de rede, cookies e scripts de rastreamento.</a:t>
            </a:r>
            <a:endParaRPr sz="15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3. Executar testes empíricos nos portais das companhias aéreas autorizadas pela ANAC, quantificando o grau de aderência e identificando as principais vulnerabilidades técnicas.</a:t>
            </a:r>
            <a:endParaRPr sz="1600"/>
          </a:p>
        </p:txBody>
      </p:sp>
      <p:sp>
        <p:nvSpPr>
          <p:cNvPr id="133" name="Google Shape;133;p16"/>
          <p:cNvSpPr txBox="1"/>
          <p:nvPr/>
        </p:nvSpPr>
        <p:spPr>
          <a:xfrm>
            <a:off x="714375" y="476250"/>
            <a:ext cx="1145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Objetivos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71500" y="476250"/>
            <a:ext cx="47700" cy="39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/>
          <p:nvPr/>
        </p:nvSpPr>
        <p:spPr>
          <a:xfrm>
            <a:off x="571500" y="476250"/>
            <a:ext cx="47700" cy="400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714375" y="484298"/>
            <a:ext cx="10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36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Trabalhos Relacionados</a:t>
            </a:r>
            <a:endParaRPr b="1" sz="2636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571500" y="1333500"/>
            <a:ext cx="5334000" cy="4953000"/>
          </a:xfrm>
          <a:prstGeom prst="roundRect">
            <a:avLst>
              <a:gd fmla="val 23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57250" y="1619250"/>
            <a:ext cx="4762500" cy="4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IEE/ </a:t>
            </a:r>
            <a:r>
              <a:rPr b="1" lang="en-US" sz="1100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WER2025</a:t>
            </a:r>
            <a:endParaRPr b="1" sz="1100">
              <a:solidFill>
                <a:srgbClr val="0284C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just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</a:t>
            </a:r>
            <a:r>
              <a:rPr lang="en-US" sz="15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. Veronez, R. Pereira, V. F. A. Santander, “</a:t>
            </a:r>
            <a:r>
              <a:rPr b="1" lang="en-US" sz="15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Requisitos de Privacidade em Software: Uma Abordagem Baseada em Padrões para Conformidade com a LGPD</a:t>
            </a:r>
            <a:r>
              <a:rPr lang="en-US" sz="15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”, 28th Workshop on Requirements Engineering (WER2025), Brazil, 2025. 10.29327/1588952.28-27</a:t>
            </a:r>
            <a:endParaRPr sz="15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0" marL="457200" rtl="0" algn="just">
              <a:spcBef>
                <a:spcPts val="18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Inter"/>
              <a:buChar char="●"/>
            </a:pPr>
            <a:r>
              <a:rPr b="1" lang="en-US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Problema</a:t>
            </a:r>
            <a:r>
              <a:rPr b="1" lang="en-US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Utilização indevida de dados por parte </a:t>
            </a:r>
            <a:r>
              <a:rPr lang="en-US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das</a:t>
            </a:r>
            <a:r>
              <a:rPr lang="en-US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empresas e vazamento de dados pessoais.</a:t>
            </a:r>
            <a:endParaRPr sz="13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just">
              <a:spcBef>
                <a:spcPts val="135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Inter"/>
              <a:buChar char="●"/>
            </a:pPr>
            <a:r>
              <a:rPr b="1" lang="en-US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Objetivo</a:t>
            </a:r>
            <a:r>
              <a:rPr b="1" lang="en-US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</a:t>
            </a:r>
            <a:r>
              <a:rPr lang="en-US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escrever uma abordagem para auxiliar as equipes de desenvolvimento na elicitação e operacionalização de requisitos de privacidade através da utilização de padrões, visando estar em conformidade com a LGPD.</a:t>
            </a:r>
            <a:endParaRPr sz="13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just">
              <a:spcBef>
                <a:spcPts val="135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Inter"/>
              <a:buChar char="●"/>
            </a:pPr>
            <a:r>
              <a:rPr b="1" lang="en-US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Contribuição</a:t>
            </a:r>
            <a:r>
              <a:rPr b="1" lang="en-US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Fornece a base teórica para identificação dos requisitos de privacidade.</a:t>
            </a:r>
            <a:endParaRPr sz="13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6286500" y="1333500"/>
            <a:ext cx="5334000" cy="4953000"/>
          </a:xfrm>
          <a:prstGeom prst="roundRect">
            <a:avLst>
              <a:gd fmla="val 23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572250" y="1619250"/>
            <a:ext cx="4762500" cy="4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ACM/ SBC</a:t>
            </a:r>
            <a:endParaRPr b="1" sz="1100">
              <a:solidFill>
                <a:srgbClr val="0284C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just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Amanda Melo, Luca Machado, Wesley Silva, and Luciana Salgado. 2024. </a:t>
            </a:r>
            <a:r>
              <a:rPr b="1" lang="en-US" sz="13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Um Guia para o projeto de banners de consentimentos para cookies simples, intuitivos e de acordo com a LGPD. </a:t>
            </a:r>
            <a:r>
              <a:rPr lang="en-US" sz="13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 Anais Estendidos do XXIII Simpósio Brasileiro sobre Fatores Humanos em Sistemas Computacionais, outubro 07, 2024, Brasília/DF, Brasil. SBC, Porto Alegre, Brasil, 95-99. DOI: https://doi.org/10.5753/ihc_estendido.2024.243936.</a:t>
            </a:r>
            <a:endParaRPr b="1" sz="11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just">
              <a:spcBef>
                <a:spcPts val="18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Inter"/>
              <a:buChar char="●"/>
            </a:pPr>
            <a:r>
              <a:rPr b="1" lang="en-US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Problema:</a:t>
            </a:r>
            <a:r>
              <a:rPr lang="en-US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forma como os banners de consentimento de cookies são apresentados, em regra, não observa os princípios da LGPD.</a:t>
            </a:r>
            <a:endParaRPr sz="13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just">
              <a:spcBef>
                <a:spcPts val="135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Inter"/>
              <a:buChar char="●"/>
            </a:pPr>
            <a:r>
              <a:rPr b="1" lang="en-US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Objetivo:</a:t>
            </a:r>
            <a:r>
              <a:rPr lang="en-US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Proposta de um guia para o design de banners de consentimento baseado em oito Estratégias Comunicativas que buscam atender princípios da LGPD</a:t>
            </a:r>
            <a:endParaRPr sz="13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just">
              <a:spcBef>
                <a:spcPts val="135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Inter"/>
              <a:buChar char="●"/>
            </a:pPr>
            <a:r>
              <a:rPr b="1" lang="en-US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Contribuição:</a:t>
            </a:r>
            <a:r>
              <a:rPr lang="en-US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Identificação dos requisitos de privacidade.</a:t>
            </a:r>
            <a:endParaRPr b="1" sz="12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714375" y="476250"/>
            <a:ext cx="11451300" cy="4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Materiais e Método</a:t>
            </a:r>
            <a:r>
              <a:rPr b="1" lang="en-US" sz="28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logia</a:t>
            </a:r>
            <a:endParaRPr b="1" i="0" sz="285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571500" y="476250"/>
            <a:ext cx="47700" cy="39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2" name="Google Shape;152;p18"/>
          <p:cNvGrpSpPr/>
          <p:nvPr/>
        </p:nvGrpSpPr>
        <p:grpSpPr>
          <a:xfrm>
            <a:off x="571500" y="1047750"/>
            <a:ext cx="11049000" cy="5143650"/>
            <a:chOff x="571500" y="1047750"/>
            <a:chExt cx="11049000" cy="5143650"/>
          </a:xfrm>
        </p:grpSpPr>
        <p:sp>
          <p:nvSpPr>
            <p:cNvPr id="153" name="Google Shape;153;p18"/>
            <p:cNvSpPr txBox="1"/>
            <p:nvPr/>
          </p:nvSpPr>
          <p:spPr>
            <a:xfrm>
              <a:off x="571500" y="1047750"/>
              <a:ext cx="110490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284C7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1. MATERIAIS E FERRAMENTAS</a:t>
              </a:r>
              <a:endParaRPr b="1" sz="1100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grpSp>
          <p:nvGrpSpPr>
            <p:cNvPr id="154" name="Google Shape;154;p18"/>
            <p:cNvGrpSpPr/>
            <p:nvPr/>
          </p:nvGrpSpPr>
          <p:grpSpPr>
            <a:xfrm>
              <a:off x="571500" y="1333500"/>
              <a:ext cx="2571900" cy="1047900"/>
              <a:chOff x="0" y="0"/>
              <a:chExt cx="2571900" cy="1047900"/>
            </a:xfrm>
          </p:grpSpPr>
          <p:sp>
            <p:nvSpPr>
              <p:cNvPr id="155" name="Google Shape;155;p18"/>
              <p:cNvSpPr/>
              <p:nvPr/>
            </p:nvSpPr>
            <p:spPr>
              <a:xfrm>
                <a:off x="0" y="0"/>
                <a:ext cx="2571900" cy="1047900"/>
              </a:xfrm>
              <a:prstGeom prst="roundRect">
                <a:avLst>
                  <a:gd fmla="val 909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8"/>
              <p:cNvSpPr/>
              <p:nvPr/>
            </p:nvSpPr>
            <p:spPr>
              <a:xfrm>
                <a:off x="133350" y="152400"/>
                <a:ext cx="342900" cy="342900"/>
              </a:xfrm>
              <a:prstGeom prst="roundRect">
                <a:avLst>
                  <a:gd fmla="val 22222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8"/>
              <p:cNvSpPr txBox="1"/>
              <p:nvPr/>
            </p:nvSpPr>
            <p:spPr>
              <a:xfrm>
                <a:off x="133350" y="178689"/>
                <a:ext cx="3429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284C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flight</a:t>
                </a:r>
                <a:endParaRPr sz="1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58" name="Google Shape;158;p18"/>
              <p:cNvSpPr txBox="1"/>
              <p:nvPr/>
            </p:nvSpPr>
            <p:spPr>
              <a:xfrm>
                <a:off x="552450" y="133350"/>
                <a:ext cx="1886100" cy="781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0F172A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Amostra</a:t>
                </a:r>
                <a:endParaRPr b="1" sz="11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Lista oficial de empresas aéreas regulares outorgadas pela ANAC.</a:t>
                </a:r>
                <a:endParaRPr b="0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59" name="Google Shape;159;p18"/>
            <p:cNvGrpSpPr/>
            <p:nvPr/>
          </p:nvGrpSpPr>
          <p:grpSpPr>
            <a:xfrm>
              <a:off x="3333750" y="1333500"/>
              <a:ext cx="2571900" cy="1047900"/>
              <a:chOff x="0" y="0"/>
              <a:chExt cx="2571900" cy="1047900"/>
            </a:xfrm>
          </p:grpSpPr>
          <p:sp>
            <p:nvSpPr>
              <p:cNvPr id="160" name="Google Shape;160;p18"/>
              <p:cNvSpPr/>
              <p:nvPr/>
            </p:nvSpPr>
            <p:spPr>
              <a:xfrm>
                <a:off x="0" y="0"/>
                <a:ext cx="2571900" cy="1047900"/>
              </a:xfrm>
              <a:prstGeom prst="roundRect">
                <a:avLst>
                  <a:gd fmla="val 909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8"/>
              <p:cNvSpPr/>
              <p:nvPr/>
            </p:nvSpPr>
            <p:spPr>
              <a:xfrm>
                <a:off x="133350" y="152400"/>
                <a:ext cx="342900" cy="342900"/>
              </a:xfrm>
              <a:prstGeom prst="roundRect">
                <a:avLst>
                  <a:gd fmla="val 22222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8"/>
              <p:cNvSpPr txBox="1"/>
              <p:nvPr/>
            </p:nvSpPr>
            <p:spPr>
              <a:xfrm>
                <a:off x="133350" y="178689"/>
                <a:ext cx="3429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284C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smart_toy</a:t>
                </a:r>
                <a:endParaRPr sz="1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63" name="Google Shape;163;p18"/>
              <p:cNvSpPr txBox="1"/>
              <p:nvPr/>
            </p:nvSpPr>
            <p:spPr>
              <a:xfrm>
                <a:off x="552450" y="133350"/>
                <a:ext cx="1886100" cy="781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0F172A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Automação Web</a:t>
                </a:r>
                <a:endParaRPr b="1" sz="11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Playwright (Python/Node.js) para navegação automatizada e emulação de sessões.</a:t>
                </a:r>
                <a:endParaRPr b="0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64" name="Google Shape;164;p18"/>
            <p:cNvGrpSpPr/>
            <p:nvPr/>
          </p:nvGrpSpPr>
          <p:grpSpPr>
            <a:xfrm>
              <a:off x="6096000" y="1333500"/>
              <a:ext cx="2571900" cy="1047900"/>
              <a:chOff x="0" y="0"/>
              <a:chExt cx="2571900" cy="1047900"/>
            </a:xfrm>
          </p:grpSpPr>
          <p:sp>
            <p:nvSpPr>
              <p:cNvPr id="165" name="Google Shape;165;p18"/>
              <p:cNvSpPr/>
              <p:nvPr/>
            </p:nvSpPr>
            <p:spPr>
              <a:xfrm>
                <a:off x="0" y="0"/>
                <a:ext cx="2571900" cy="1047900"/>
              </a:xfrm>
              <a:prstGeom prst="roundRect">
                <a:avLst>
                  <a:gd fmla="val 909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8"/>
              <p:cNvSpPr/>
              <p:nvPr/>
            </p:nvSpPr>
            <p:spPr>
              <a:xfrm>
                <a:off x="133350" y="152400"/>
                <a:ext cx="342900" cy="342900"/>
              </a:xfrm>
              <a:prstGeom prst="roundRect">
                <a:avLst>
                  <a:gd fmla="val 22222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8"/>
              <p:cNvSpPr txBox="1"/>
              <p:nvPr/>
            </p:nvSpPr>
            <p:spPr>
              <a:xfrm>
                <a:off x="133350" y="178689"/>
                <a:ext cx="3429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284C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security</a:t>
                </a:r>
                <a:endParaRPr sz="1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68" name="Google Shape;168;p18"/>
              <p:cNvSpPr txBox="1"/>
              <p:nvPr/>
            </p:nvSpPr>
            <p:spPr>
              <a:xfrm>
                <a:off x="552450" y="133350"/>
                <a:ext cx="1886100" cy="781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100" u="none" strike="noStrike">
                    <a:solidFill>
                      <a:srgbClr val="0F172A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Base de Inteligência</a:t>
                </a:r>
                <a:endParaRPr b="1" i="0" sz="1100" u="none" strike="noStrike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b="0" i="0" lang="en-US" sz="900" u="none" strike="noStrike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Catálogo de requisitos LGPD e listas EasyList/Disconnect para classificação de trackers.</a:t>
                </a:r>
                <a:endParaRPr b="1" i="0" sz="900" u="none" strike="noStrike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169" name="Google Shape;169;p18"/>
            <p:cNvGrpSpPr/>
            <p:nvPr/>
          </p:nvGrpSpPr>
          <p:grpSpPr>
            <a:xfrm>
              <a:off x="8858250" y="1333500"/>
              <a:ext cx="2571900" cy="1047900"/>
              <a:chOff x="0" y="0"/>
              <a:chExt cx="2571900" cy="1047900"/>
            </a:xfrm>
          </p:grpSpPr>
          <p:sp>
            <p:nvSpPr>
              <p:cNvPr id="170" name="Google Shape;170;p18"/>
              <p:cNvSpPr/>
              <p:nvPr/>
            </p:nvSpPr>
            <p:spPr>
              <a:xfrm>
                <a:off x="0" y="0"/>
                <a:ext cx="2571900" cy="1047900"/>
              </a:xfrm>
              <a:prstGeom prst="roundRect">
                <a:avLst>
                  <a:gd fmla="val 909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8"/>
              <p:cNvSpPr/>
              <p:nvPr/>
            </p:nvSpPr>
            <p:spPr>
              <a:xfrm>
                <a:off x="133350" y="152400"/>
                <a:ext cx="342900" cy="342900"/>
              </a:xfrm>
              <a:prstGeom prst="roundRect">
                <a:avLst>
                  <a:gd fmla="val 22222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8"/>
              <p:cNvSpPr txBox="1"/>
              <p:nvPr/>
            </p:nvSpPr>
            <p:spPr>
              <a:xfrm>
                <a:off x="133350" y="178689"/>
                <a:ext cx="342900" cy="34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284C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analytics</a:t>
                </a:r>
                <a:endParaRPr sz="1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73" name="Google Shape;173;p18"/>
              <p:cNvSpPr txBox="1"/>
              <p:nvPr/>
            </p:nvSpPr>
            <p:spPr>
              <a:xfrm>
                <a:off x="552450" y="133350"/>
                <a:ext cx="1886100" cy="781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100" u="none" strike="noStrike">
                    <a:solidFill>
                      <a:srgbClr val="0F172A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Métricas</a:t>
                </a:r>
                <a:endParaRPr b="1" i="0" sz="1100" u="none" strike="noStrike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b="0" i="0" lang="en-US" sz="850" u="none" strike="noStrike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Taxas de </a:t>
                </a:r>
                <a:r>
                  <a:rPr b="0" i="1" lang="en-US" sz="850" u="none" strike="noStrike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Pre-Consent Leakage</a:t>
                </a:r>
                <a:r>
                  <a:rPr b="0" i="0" lang="en-US" sz="850" u="none" strike="noStrike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, conformidade no opt-out e retenção indevida de cookies.</a:t>
                </a:r>
                <a:endParaRPr b="1" i="0" sz="850" u="none" strike="noStrike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174" name="Google Shape;174;p18"/>
            <p:cNvSpPr txBox="1"/>
            <p:nvPr/>
          </p:nvSpPr>
          <p:spPr>
            <a:xfrm>
              <a:off x="571500" y="2667000"/>
              <a:ext cx="110490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284C7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2.  METODOLOGIA</a:t>
              </a:r>
              <a:endParaRPr b="1" sz="1100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grpSp>
          <p:nvGrpSpPr>
            <p:cNvPr id="175" name="Google Shape;175;p18"/>
            <p:cNvGrpSpPr/>
            <p:nvPr/>
          </p:nvGrpSpPr>
          <p:grpSpPr>
            <a:xfrm>
              <a:off x="571500" y="3048000"/>
              <a:ext cx="2524200" cy="3143400"/>
              <a:chOff x="0" y="0"/>
              <a:chExt cx="2524200" cy="3143400"/>
            </a:xfrm>
          </p:grpSpPr>
          <p:sp>
            <p:nvSpPr>
              <p:cNvPr id="176" name="Google Shape;176;p18"/>
              <p:cNvSpPr/>
              <p:nvPr/>
            </p:nvSpPr>
            <p:spPr>
              <a:xfrm>
                <a:off x="0" y="0"/>
                <a:ext cx="2524200" cy="3143400"/>
              </a:xfrm>
              <a:prstGeom prst="roundRect">
                <a:avLst>
                  <a:gd fmla="val 4528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8"/>
              <p:cNvSpPr/>
              <p:nvPr/>
            </p:nvSpPr>
            <p:spPr>
              <a:xfrm>
                <a:off x="0" y="0"/>
                <a:ext cx="2524200" cy="400200"/>
              </a:xfrm>
              <a:prstGeom prst="roundRect">
                <a:avLst>
                  <a:gd fmla="val 28571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8"/>
              <p:cNvSpPr txBox="1"/>
              <p:nvPr/>
            </p:nvSpPr>
            <p:spPr>
              <a:xfrm>
                <a:off x="0" y="0"/>
                <a:ext cx="2524200" cy="400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ETAPA 01</a:t>
                </a:r>
                <a:endParaRPr b="1" sz="11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79" name="Google Shape;179;p18"/>
              <p:cNvSpPr txBox="1"/>
              <p:nvPr/>
            </p:nvSpPr>
            <p:spPr>
              <a:xfrm>
                <a:off x="171450" y="552450"/>
                <a:ext cx="2181300" cy="2381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F172A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Levantamento de Requisitos</a:t>
                </a:r>
                <a:endParaRPr b="1" sz="14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ctr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Mapeamento das diretrizes legais e critérios técnicos.</a:t>
                </a:r>
                <a:endParaRPr b="0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Entrada / Output:</a:t>
                </a:r>
                <a:endParaRPr b="0" sz="95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Diretrizes da LGPD &amp; ANAC convertidas em parâmetros</a:t>
                </a:r>
                <a:endParaRPr b="1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180" name="Google Shape;180;p18"/>
            <p:cNvSpPr/>
            <p:nvPr/>
          </p:nvSpPr>
          <p:spPr>
            <a:xfrm>
              <a:off x="3171825" y="4524375"/>
              <a:ext cx="190500" cy="1143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80000" y="0"/>
                  </a:moveTo>
                  <a:lnTo>
                    <a:pt x="120000" y="60000"/>
                  </a:lnTo>
                  <a:lnTo>
                    <a:pt x="8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1" name="Google Shape;181;p18"/>
            <p:cNvGrpSpPr/>
            <p:nvPr/>
          </p:nvGrpSpPr>
          <p:grpSpPr>
            <a:xfrm>
              <a:off x="3429000" y="3048000"/>
              <a:ext cx="2524200" cy="3143400"/>
              <a:chOff x="0" y="0"/>
              <a:chExt cx="2524200" cy="3143400"/>
            </a:xfrm>
          </p:grpSpPr>
          <p:sp>
            <p:nvSpPr>
              <p:cNvPr id="182" name="Google Shape;182;p18"/>
              <p:cNvSpPr/>
              <p:nvPr/>
            </p:nvSpPr>
            <p:spPr>
              <a:xfrm>
                <a:off x="0" y="0"/>
                <a:ext cx="2524200" cy="3143400"/>
              </a:xfrm>
              <a:prstGeom prst="roundRect">
                <a:avLst>
                  <a:gd fmla="val 4528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8"/>
              <p:cNvSpPr/>
              <p:nvPr/>
            </p:nvSpPr>
            <p:spPr>
              <a:xfrm>
                <a:off x="0" y="0"/>
                <a:ext cx="2524200" cy="400200"/>
              </a:xfrm>
              <a:prstGeom prst="roundRect">
                <a:avLst>
                  <a:gd fmla="val 28571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8"/>
              <p:cNvSpPr txBox="1"/>
              <p:nvPr/>
            </p:nvSpPr>
            <p:spPr>
              <a:xfrm>
                <a:off x="0" y="0"/>
                <a:ext cx="2524200" cy="400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ETAPA 02</a:t>
                </a:r>
                <a:endParaRPr b="1" sz="11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85" name="Google Shape;185;p18"/>
              <p:cNvSpPr txBox="1"/>
              <p:nvPr/>
            </p:nvSpPr>
            <p:spPr>
              <a:xfrm>
                <a:off x="171450" y="552450"/>
                <a:ext cx="2181300" cy="2381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F172A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Pipeline de Teste</a:t>
                </a:r>
                <a:endParaRPr b="1" sz="14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ctr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Construção dos scripts e automação com Playwright.</a:t>
                </a:r>
                <a:endParaRPr b="0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Execução:</a:t>
                </a:r>
                <a:endParaRPr b="0" sz="95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Headless browser crawling &amp; captura de rede</a:t>
                </a:r>
                <a:endParaRPr b="1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186" name="Google Shape;186;p18"/>
            <p:cNvSpPr/>
            <p:nvPr/>
          </p:nvSpPr>
          <p:spPr>
            <a:xfrm>
              <a:off x="6029325" y="4524375"/>
              <a:ext cx="190500" cy="1143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80000" y="0"/>
                  </a:moveTo>
                  <a:lnTo>
                    <a:pt x="120000" y="60000"/>
                  </a:lnTo>
                  <a:lnTo>
                    <a:pt x="8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7" name="Google Shape;187;p18"/>
            <p:cNvGrpSpPr/>
            <p:nvPr/>
          </p:nvGrpSpPr>
          <p:grpSpPr>
            <a:xfrm>
              <a:off x="6286500" y="3048000"/>
              <a:ext cx="2524200" cy="3143400"/>
              <a:chOff x="0" y="0"/>
              <a:chExt cx="2524200" cy="3143400"/>
            </a:xfrm>
          </p:grpSpPr>
          <p:sp>
            <p:nvSpPr>
              <p:cNvPr id="188" name="Google Shape;188;p18"/>
              <p:cNvSpPr/>
              <p:nvPr/>
            </p:nvSpPr>
            <p:spPr>
              <a:xfrm>
                <a:off x="0" y="0"/>
                <a:ext cx="2524200" cy="3143400"/>
              </a:xfrm>
              <a:prstGeom prst="roundRect">
                <a:avLst>
                  <a:gd fmla="val 4528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8"/>
              <p:cNvSpPr/>
              <p:nvPr/>
            </p:nvSpPr>
            <p:spPr>
              <a:xfrm>
                <a:off x="0" y="0"/>
                <a:ext cx="2524200" cy="400200"/>
              </a:xfrm>
              <a:prstGeom prst="roundRect">
                <a:avLst>
                  <a:gd fmla="val 28571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8"/>
              <p:cNvSpPr txBox="1"/>
              <p:nvPr/>
            </p:nvSpPr>
            <p:spPr>
              <a:xfrm>
                <a:off x="0" y="0"/>
                <a:ext cx="2524200" cy="400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ETAPA 03</a:t>
                </a:r>
                <a:endParaRPr b="1" sz="11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91" name="Google Shape;191;p18"/>
              <p:cNvSpPr txBox="1"/>
              <p:nvPr/>
            </p:nvSpPr>
            <p:spPr>
              <a:xfrm>
                <a:off x="171450" y="552450"/>
                <a:ext cx="2181300" cy="2381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F172A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Execução dos Cenários</a:t>
                </a:r>
                <a:endParaRPr b="1" sz="14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ctr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Testes práticos em Default, Aceite e Rejeição.</a:t>
                </a:r>
                <a:endParaRPr b="0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Condições:</a:t>
                </a:r>
                <a:endParaRPr b="0" sz="95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Inspeção pré/pós consentimento</a:t>
                </a:r>
                <a:endParaRPr b="1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192" name="Google Shape;192;p18"/>
            <p:cNvSpPr/>
            <p:nvPr/>
          </p:nvSpPr>
          <p:spPr>
            <a:xfrm>
              <a:off x="8886825" y="4524375"/>
              <a:ext cx="190500" cy="1143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80000" y="0"/>
                  </a:moveTo>
                  <a:lnTo>
                    <a:pt x="120000" y="60000"/>
                  </a:lnTo>
                  <a:lnTo>
                    <a:pt x="8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3" name="Google Shape;193;p18"/>
            <p:cNvGrpSpPr/>
            <p:nvPr/>
          </p:nvGrpSpPr>
          <p:grpSpPr>
            <a:xfrm>
              <a:off x="9144000" y="3048000"/>
              <a:ext cx="2476500" cy="3143400"/>
              <a:chOff x="0" y="0"/>
              <a:chExt cx="2476500" cy="3143400"/>
            </a:xfrm>
          </p:grpSpPr>
          <p:sp>
            <p:nvSpPr>
              <p:cNvPr id="194" name="Google Shape;194;p18"/>
              <p:cNvSpPr/>
              <p:nvPr/>
            </p:nvSpPr>
            <p:spPr>
              <a:xfrm>
                <a:off x="0" y="0"/>
                <a:ext cx="2476500" cy="3143400"/>
              </a:xfrm>
              <a:prstGeom prst="roundRect">
                <a:avLst>
                  <a:gd fmla="val 4615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18"/>
              <p:cNvSpPr/>
              <p:nvPr/>
            </p:nvSpPr>
            <p:spPr>
              <a:xfrm>
                <a:off x="0" y="0"/>
                <a:ext cx="2476500" cy="400200"/>
              </a:xfrm>
              <a:prstGeom prst="roundRect">
                <a:avLst>
                  <a:gd fmla="val 28571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8"/>
              <p:cNvSpPr txBox="1"/>
              <p:nvPr/>
            </p:nvSpPr>
            <p:spPr>
              <a:xfrm>
                <a:off x="0" y="0"/>
                <a:ext cx="2476500" cy="400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ETAPA 04</a:t>
                </a:r>
                <a:endParaRPr b="1" sz="11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97" name="Google Shape;197;p18"/>
              <p:cNvSpPr txBox="1"/>
              <p:nvPr/>
            </p:nvSpPr>
            <p:spPr>
              <a:xfrm>
                <a:off x="171450" y="552450"/>
                <a:ext cx="2133600" cy="2381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F172A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Análise Estatística</a:t>
                </a:r>
                <a:endParaRPr b="1" sz="14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ctr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Consolidação e avaliação dos dados coletados.</a:t>
                </a:r>
                <a:endParaRPr b="0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Resultado:</a:t>
                </a:r>
                <a:endParaRPr b="0" sz="95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Relatório de conformidade LGPD</a:t>
                </a:r>
                <a:endParaRPr b="1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24150" y="3438525"/>
            <a:ext cx="67437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2595612" y="2583300"/>
            <a:ext cx="700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Obrigado!</a:t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3562350" y="4090987"/>
            <a:ext cx="5067300" cy="523800"/>
          </a:xfrm>
          <a:prstGeom prst="roundRect">
            <a:avLst>
              <a:gd fmla="val 14545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7" name="Google Shape;20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79625" y="4269103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428148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3679625" y="4252900"/>
            <a:ext cx="252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</a:t>
            </a:r>
            <a:r>
              <a:rPr lang="en-US" sz="120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afmendes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@</a:t>
            </a:r>
            <a:r>
              <a:rPr lang="en-US" sz="120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pucminas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.edu.br]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032896" y="4252912"/>
            <a:ext cx="2535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[</a:t>
            </a:r>
            <a:r>
              <a:rPr lang="en-US" sz="120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afmen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]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